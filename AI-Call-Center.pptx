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F3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188720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呼叫中心系统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 FreeSwitch + Spring Boot 的企业级智能呼叫中心平台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多租户 · 智能路由 · 实时通信 · 容器化部署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项目概述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3716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企业级AI呼叫中心解决方案，集成 FreeSwitch 作为呼叫引擎，提供完整的呼叫管理、坐席管理、智能路由、监控统计等功能。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0" y="109728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4F7F8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0" y="11704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126480" y="1600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微服务模块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26480" y="184708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cc-core / cc-api / fs-api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0" y="237744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4F7F8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24505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6+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126480" y="2880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ACD 分配策略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26480" y="31272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最少接听 · 轮询 · VIP 等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0" y="365760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4F7F8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37307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126480" y="4160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数据库支持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26480" y="440740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· PG · Oracle · SQL Server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技术架构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3716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234440"/>
            <a:ext cx="7315200" cy="713232"/>
          </a:xfrm>
          <a:prstGeom prst="roundRect">
            <a:avLst>
              <a:gd name="adj" fmla="val 7692"/>
            </a:avLst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3075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161848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 + Vite + Element Plus + JsSIP 软电话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2103120"/>
            <a:ext cx="7315200" cy="713232"/>
          </a:xfrm>
          <a:prstGeom prst="roundRect">
            <a:avLst>
              <a:gd name="adj" fmla="val 7692"/>
            </a:avLst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1762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网关层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248716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Nacos 服务发现 · Spring Cloud Gateway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2971800"/>
            <a:ext cx="7315200" cy="713232"/>
          </a:xfrm>
          <a:prstGeom prst="roundRect">
            <a:avLst>
              <a:gd name="adj" fmla="val 7692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044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业务服务层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335584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cc-api (管理服务 :8080)  ·  fs-api (呼叫控制 :8081)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3840480"/>
            <a:ext cx="7315200" cy="713232"/>
          </a:xfrm>
          <a:prstGeom prst="roundRect">
            <a:avLst>
              <a:gd name="adj" fmla="val 7692"/>
            </a:avLst>
          </a:prstGeom>
          <a:solidFill>
            <a:srgbClr val="1A2F3B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39136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数据与引擎层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4224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FreeSwitch 呼叫引擎 · MySQL/Redis · MinIO 文件存储 · RabbitMQ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核心模块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3716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34440"/>
            <a:ext cx="2697480" cy="3200400"/>
          </a:xfrm>
          <a:prstGeom prst="roundRect">
            <a:avLst>
              <a:gd name="adj" fmla="val 2712"/>
            </a:avLst>
          </a:prstGeom>
          <a:solidFill>
            <a:srgbClr val="F4F7F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34440"/>
            <a:ext cx="2697480" cy="822960"/>
          </a:xfrm>
          <a:prstGeom prst="roundRect">
            <a:avLst>
              <a:gd name="adj" fmla="val 8889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9844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cc-core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6642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核心业务模块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业务实体类定义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77063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MyBatis 数据访问层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20954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枚举、工具类、策略接口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64845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多数据库 SQL 兼容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37560" y="1234440"/>
            <a:ext cx="2697480" cy="3200400"/>
          </a:xfrm>
          <a:prstGeom prst="roundRect">
            <a:avLst>
              <a:gd name="adj" fmla="val 2712"/>
            </a:avLst>
          </a:prstGeom>
          <a:solidFill>
            <a:srgbClr val="F4F7F8"/>
          </a:solidFill>
          <a:ln/>
        </p:spPr>
      </p:sp>
      <p:sp>
        <p:nvSpPr>
          <p:cNvPr id="13" name="Shape 11"/>
          <p:cNvSpPr/>
          <p:nvPr/>
        </p:nvSpPr>
        <p:spPr>
          <a:xfrm>
            <a:off x="3337560" y="1234440"/>
            <a:ext cx="2697480" cy="822960"/>
          </a:xfrm>
          <a:prstGeom prst="roundRect">
            <a:avLst>
              <a:gd name="adj" fmla="val 8889"/>
            </a:avLst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3520440" y="129844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cc-api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520440" y="16642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 API 服务 (:8080)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20440" y="23317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坐席/技能组/企业管理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20440" y="277063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Spring Security + JWT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20440" y="320954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Quartz 定时任务调度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20440" y="364845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通话统计与报表导出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1234440"/>
            <a:ext cx="2697480" cy="3200400"/>
          </a:xfrm>
          <a:prstGeom prst="roundRect">
            <a:avLst>
              <a:gd name="adj" fmla="val 2712"/>
            </a:avLst>
          </a:prstGeom>
          <a:solidFill>
            <a:srgbClr val="F4F7F8"/>
          </a:solidFill>
          <a:ln/>
        </p:spPr>
      </p:sp>
      <p:sp>
        <p:nvSpPr>
          <p:cNvPr id="21" name="Shape 19"/>
          <p:cNvSpPr/>
          <p:nvPr/>
        </p:nvSpPr>
        <p:spPr>
          <a:xfrm>
            <a:off x="6217920" y="1234440"/>
            <a:ext cx="2697480" cy="822960"/>
          </a:xfrm>
          <a:prstGeom prst="roundRect">
            <a:avLst>
              <a:gd name="adj" fmla="val 8889"/>
            </a:avLst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129844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fs-api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00800" y="16642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呼叫控制服务 (:8081)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0" y="23317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FreeSwitch ESL 集成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0" y="277063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ACD 智能路由引擎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0" y="320954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WebSocket 实时通信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0" y="364845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坐席状态实时监控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智能路由 (ACD)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3716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分配策略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77240" y="1700784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6459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最少接听次数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18836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优先分配给接听最少的坐席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2203704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21488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最少通话时长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3000" y="238658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平衡坐席工作负载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77240" y="2706624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26517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最长就绪时间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43000" y="288950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优先分配给等待最久的坐席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77240" y="3209544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31546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轮询分配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43000" y="339242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按顺序轮流分配来电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77240" y="3712464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3657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随机分配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43000" y="38953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随机选择可用坐席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77240" y="4215384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1143000" y="4160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自定义分配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3000" y="43982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按业务规则灵活定制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排队策略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983480" y="1700784"/>
            <a:ext cx="201168" cy="20116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5349240" y="16459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默认排队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49240" y="188366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先进先出队列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983480" y="2249424"/>
            <a:ext cx="201168" cy="20116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8" name="Text 26"/>
          <p:cNvSpPr/>
          <p:nvPr/>
        </p:nvSpPr>
        <p:spPr>
          <a:xfrm>
            <a:off x="5349240" y="21945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优先排队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49240" y="243230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高优先级客户优先接入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983480" y="2798064"/>
            <a:ext cx="201168" cy="20116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1" name="Text 29"/>
          <p:cNvSpPr/>
          <p:nvPr/>
        </p:nvSpPr>
        <p:spPr>
          <a:xfrm>
            <a:off x="5349240" y="27432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自定义排队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49240" y="29809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按业务规则动态排序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983480" y="3346704"/>
            <a:ext cx="201168" cy="20116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4" name="Text 32"/>
          <p:cNvSpPr/>
          <p:nvPr/>
        </p:nvSpPr>
        <p:spPr>
          <a:xfrm>
            <a:off x="5349240" y="32918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溢出处理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49240" y="352958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排队超时自动溢出到其他技能组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983480" y="3895344"/>
            <a:ext cx="201168" cy="20116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7" name="Text 35"/>
          <p:cNvSpPr/>
          <p:nvPr/>
        </p:nvSpPr>
        <p:spPr>
          <a:xfrm>
            <a:off x="5349240" y="38404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记忆坐席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49240" y="407822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优先匹配客户历史服务坐席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呼叫管理功能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3716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3444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F4F7F8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71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📞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呼入处理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1488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自动识别主叫号码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路由至目标技能组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23444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F4F7F8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1371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📲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520440" y="1828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主动外呼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20440" y="21488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坐席发起外呼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支持批量外呼任务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23444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F4F7F8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1371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263640" y="1828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呼叫转接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63640" y="21488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坐席间转接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技能组间转接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06324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F4F7F8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200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⏸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77240" y="3657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呼叫保持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7240" y="39776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保持/取消保持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客户听等待音乐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83280" y="306324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F4F7F8"/>
          </a:solidFill>
          <a:ln/>
        </p:spPr>
      </p:sp>
      <p:sp>
        <p:nvSpPr>
          <p:cNvPr id="21" name="Text 19"/>
          <p:cNvSpPr/>
          <p:nvPr/>
        </p:nvSpPr>
        <p:spPr>
          <a:xfrm>
            <a:off x="3520440" y="3200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🔇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520440" y="3657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静音控制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520440" y="39776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坐席静音/取消静音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保护通话隐私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306324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F4F7F8"/>
          </a:solidFill>
          <a:ln/>
        </p:spPr>
      </p:sp>
      <p:sp>
        <p:nvSpPr>
          <p:cNvPr id="25" name="Text 23"/>
          <p:cNvSpPr/>
          <p:nvPr/>
        </p:nvSpPr>
        <p:spPr>
          <a:xfrm>
            <a:off x="6263640" y="3200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263640" y="3657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通话记录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263640" y="39776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全程通话记录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录音文件存储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坐席管理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3716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坐席状态流转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1371600" cy="502920"/>
          </a:xfrm>
          <a:prstGeom prst="roundRect">
            <a:avLst>
              <a:gd name="adj" fmla="val 9091"/>
            </a:avLst>
          </a:prstGeom>
          <a:solidFill>
            <a:srgbClr val="F4F7F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91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离线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011680" y="169164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0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86000" y="1645920"/>
            <a:ext cx="1371600" cy="502920"/>
          </a:xfrm>
          <a:prstGeom prst="roundRect">
            <a:avLst>
              <a:gd name="adj" fmla="val 9091"/>
            </a:avLst>
          </a:prstGeom>
          <a:solidFill>
            <a:srgbClr val="F4F7F8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0" y="1691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就绪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0" y="169164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0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931920" y="1645920"/>
            <a:ext cx="1371600" cy="502920"/>
          </a:xfrm>
          <a:prstGeom prst="roundRect">
            <a:avLst>
              <a:gd name="adj" fmla="val 9091"/>
            </a:avLst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3931920" y="1691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通话中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03520" y="169164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0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577840" y="1645920"/>
            <a:ext cx="1371600" cy="502920"/>
          </a:xfrm>
          <a:prstGeom prst="roundRect">
            <a:avLst>
              <a:gd name="adj" fmla="val 9091"/>
            </a:avLst>
          </a:prstGeom>
          <a:solidFill>
            <a:srgbClr val="F4F7F8"/>
          </a:solidFill>
          <a:ln/>
        </p:spPr>
      </p:sp>
      <p:sp>
        <p:nvSpPr>
          <p:cNvPr id="15" name="Text 13"/>
          <p:cNvSpPr/>
          <p:nvPr/>
        </p:nvSpPr>
        <p:spPr>
          <a:xfrm>
            <a:off x="5577840" y="1691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忙碌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949440" y="169164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0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223760" y="1645920"/>
            <a:ext cx="1371600" cy="502920"/>
          </a:xfrm>
          <a:prstGeom prst="roundRect">
            <a:avLst>
              <a:gd name="adj" fmla="val 9091"/>
            </a:avLst>
          </a:prstGeom>
          <a:solidFill>
            <a:srgbClr val="F4F7F8"/>
          </a:solidFill>
          <a:ln/>
        </p:spPr>
      </p:sp>
      <p:sp>
        <p:nvSpPr>
          <p:cNvPr id="18" name="Text 16"/>
          <p:cNvSpPr/>
          <p:nvPr/>
        </p:nvSpPr>
        <p:spPr>
          <a:xfrm>
            <a:off x="7223760" y="1691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事后处理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2468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核心能力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" y="2880360"/>
            <a:ext cx="7863840" cy="411480"/>
          </a:xfrm>
          <a:prstGeom prst="roundRect">
            <a:avLst>
              <a:gd name="adj" fmla="val 8889"/>
            </a:avLst>
          </a:prstGeom>
          <a:solidFill>
            <a:srgbClr val="F4F7F8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2935224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多登录方式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651760" y="2935224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话机 / WebRTC 软电话 / PSTN 电话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3383280"/>
            <a:ext cx="7863840" cy="411480"/>
          </a:xfrm>
          <a:prstGeom prst="roundRect">
            <a:avLst>
              <a:gd name="adj" fmla="val 8889"/>
            </a:avLst>
          </a:prstGeom>
          <a:solidFill>
            <a:srgbClr val="F4F7F8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3438144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实时状态同步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651760" y="3438144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推送坐席状态至前端与第三方系统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3886200"/>
            <a:ext cx="7863840" cy="411480"/>
          </a:xfrm>
          <a:prstGeom prst="roundRect">
            <a:avLst>
              <a:gd name="adj" fmla="val 8889"/>
            </a:avLst>
          </a:prstGeom>
          <a:solidFill>
            <a:srgbClr val="F4F7F8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3941064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权限控制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651760" y="3941064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基于角色的权限模型，支持多企业多层级管理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4389120"/>
            <a:ext cx="7863840" cy="411480"/>
          </a:xfrm>
          <a:prstGeom prst="roundRect">
            <a:avLst>
              <a:gd name="adj" fmla="val 8889"/>
            </a:avLst>
          </a:prstGeom>
          <a:solidFill>
            <a:srgbClr val="F4F7F8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4443984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技能组管理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651760" y="4443984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坐席可属于多个技能组，支持动态调整优先级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部署架构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3716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280160"/>
            <a:ext cx="2011680" cy="914400"/>
          </a:xfrm>
          <a:prstGeom prst="roundRect">
            <a:avLst>
              <a:gd name="adj" fmla="val 6000"/>
            </a:avLst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258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:3000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0" y="1280160"/>
            <a:ext cx="2011680" cy="914400"/>
          </a:xfrm>
          <a:prstGeom prst="roundRect">
            <a:avLst>
              <a:gd name="adj" fmla="val 6000"/>
            </a:avLst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0" y="13258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cc-api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0" y="1280160"/>
            <a:ext cx="2011680" cy="914400"/>
          </a:xfrm>
          <a:prstGeom prst="roundRect">
            <a:avLst>
              <a:gd name="adj" fmla="val 6000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0" y="13258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fs-api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880360" y="137160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257800" y="137160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1508760" cy="822960"/>
          </a:xfrm>
          <a:prstGeom prst="roundRect">
            <a:avLst>
              <a:gd name="adj" fmla="val 5556"/>
            </a:avLst>
          </a:prstGeom>
          <a:solidFill>
            <a:srgbClr val="1A2F3B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88036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FreeSwitch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:5060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194560" y="2834640"/>
            <a:ext cx="1508760" cy="822960"/>
          </a:xfrm>
          <a:prstGeom prst="roundRect">
            <a:avLst>
              <a:gd name="adj" fmla="val 5556"/>
            </a:avLst>
          </a:prstGeom>
          <a:solidFill>
            <a:srgbClr val="1A2F3B"/>
          </a:solidFill>
          <a:ln/>
        </p:spPr>
      </p:sp>
      <p:sp>
        <p:nvSpPr>
          <p:cNvPr id="15" name="Text 13"/>
          <p:cNvSpPr/>
          <p:nvPr/>
        </p:nvSpPr>
        <p:spPr>
          <a:xfrm>
            <a:off x="2194560" y="288036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数据库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931920" y="2834640"/>
            <a:ext cx="1508760" cy="822960"/>
          </a:xfrm>
          <a:prstGeom prst="roundRect">
            <a:avLst>
              <a:gd name="adj" fmla="val 5556"/>
            </a:avLst>
          </a:prstGeom>
          <a:solidFill>
            <a:srgbClr val="1A2F3B"/>
          </a:solidFill>
          <a:ln/>
        </p:spPr>
      </p:sp>
      <p:sp>
        <p:nvSpPr>
          <p:cNvPr id="17" name="Text 15"/>
          <p:cNvSpPr/>
          <p:nvPr/>
        </p:nvSpPr>
        <p:spPr>
          <a:xfrm>
            <a:off x="3931920" y="288036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缓存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0" y="2834640"/>
            <a:ext cx="1508760" cy="822960"/>
          </a:xfrm>
          <a:prstGeom prst="roundRect">
            <a:avLst>
              <a:gd name="adj" fmla="val 5556"/>
            </a:avLst>
          </a:prstGeom>
          <a:solidFill>
            <a:srgbClr val="1A2F3B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0" y="288036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文件存储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406640" y="2834640"/>
            <a:ext cx="1508760" cy="822960"/>
          </a:xfrm>
          <a:prstGeom prst="roundRect">
            <a:avLst>
              <a:gd name="adj" fmla="val 5556"/>
            </a:avLst>
          </a:prstGeom>
          <a:solidFill>
            <a:srgbClr val="1A2F3B"/>
          </a:solidFill>
          <a:ln/>
        </p:spPr>
      </p:sp>
      <p:sp>
        <p:nvSpPr>
          <p:cNvPr id="21" name="Text 19"/>
          <p:cNvSpPr/>
          <p:nvPr/>
        </p:nvSpPr>
        <p:spPr>
          <a:xfrm>
            <a:off x="7406640" y="288036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消息队列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828800" y="3931920"/>
            <a:ext cx="5486400" cy="594360"/>
          </a:xfrm>
          <a:prstGeom prst="roundRect">
            <a:avLst>
              <a:gd name="adj" fmla="val 9231"/>
            </a:avLst>
          </a:prstGeom>
          <a:solidFill>
            <a:srgbClr val="F4F7F8"/>
          </a:solidFill>
          <a:ln/>
        </p:spPr>
      </p:sp>
      <p:sp>
        <p:nvSpPr>
          <p:cNvPr id="23" name="Text 21"/>
          <p:cNvSpPr/>
          <p:nvPr/>
        </p:nvSpPr>
        <p:spPr>
          <a:xfrm>
            <a:off x="2011680" y="39776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容器化部署  ·  Docker Compose 一键启动  ·  多阶段构建  ·  CentOS/Debian 双镜像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技术栈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3716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2697480" cy="1645920"/>
          </a:xfrm>
          <a:prstGeom prst="roundRect">
            <a:avLst>
              <a:gd name="adj" fmla="val 3333"/>
            </a:avLst>
          </a:prstGeom>
          <a:solidFill>
            <a:srgbClr val="F4F7F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后端框架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6916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Spring Boot 2.3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9476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Spring Cloud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20370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Spring Security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45973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MyBatis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1188720"/>
            <a:ext cx="2697480" cy="1645920"/>
          </a:xfrm>
          <a:prstGeom prst="roundRect">
            <a:avLst>
              <a:gd name="adj" fmla="val 3333"/>
            </a:avLst>
          </a:prstGeom>
          <a:solidFill>
            <a:srgbClr val="F4F7F8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12801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服务治理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66160" y="16916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Nacos 注册中心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66160" y="19476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Nacos 配置中心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66160" y="220370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Spring Cloud Gateway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188720"/>
            <a:ext cx="2697480" cy="1645920"/>
          </a:xfrm>
          <a:prstGeom prst="roundRect">
            <a:avLst>
              <a:gd name="adj" fmla="val 3333"/>
            </a:avLst>
          </a:prstGeom>
          <a:solidFill>
            <a:srgbClr val="F4F7F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12801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数据存储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46520" y="16916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MySQL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46520" y="19476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PostgreSQL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46520" y="220370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Oracle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46520" y="245973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SQL Server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46520" y="27157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Redis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063240"/>
            <a:ext cx="2697480" cy="1645920"/>
          </a:xfrm>
          <a:prstGeom prst="roundRect">
            <a:avLst>
              <a:gd name="adj" fmla="val 3333"/>
            </a:avLst>
          </a:prstGeom>
          <a:solidFill>
            <a:srgbClr val="F4F7F8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154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消息 &amp; 存储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5800" y="35661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RabbitMQ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5800" y="38221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Kafka (可选)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5800" y="407822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MinIO 对象存储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337560" y="3063240"/>
            <a:ext cx="2697480" cy="1645920"/>
          </a:xfrm>
          <a:prstGeom prst="roundRect">
            <a:avLst>
              <a:gd name="adj" fmla="val 3333"/>
            </a:avLst>
          </a:prstGeom>
          <a:solidFill>
            <a:srgbClr val="F4F7F8"/>
          </a:solidFill>
          <a:ln/>
        </p:spPr>
      </p:sp>
      <p:sp>
        <p:nvSpPr>
          <p:cNvPr id="28" name="Text 26"/>
          <p:cNvSpPr/>
          <p:nvPr/>
        </p:nvSpPr>
        <p:spPr>
          <a:xfrm>
            <a:off x="3520440" y="3154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呼叫引擎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566160" y="35661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FreeSwitch 1.10+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566160" y="38221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ESL 事件驱动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566160" y="407822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SIP / WebRTC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17920" y="3063240"/>
            <a:ext cx="2697480" cy="1645920"/>
          </a:xfrm>
          <a:prstGeom prst="roundRect">
            <a:avLst>
              <a:gd name="adj" fmla="val 3333"/>
            </a:avLst>
          </a:prstGeom>
          <a:solidFill>
            <a:srgbClr val="F4F7F8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0" y="3154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 &amp; 部署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46520" y="35661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Vue 3 + Vite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46520" y="38221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Element Plus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46520" y="407822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JsSIP 软电话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46520" y="433425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Docker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F3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总结与展望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508760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138988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完整的呼叫中心业务闭环：呼入 → 路由 → 分配 → 通话 → 记录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2011680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189280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种 ACD 分配策略 + 多种排队策略，灵活适配业务场景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2514600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239572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微服务架构 + 容器化部署，支持弹性伸缩和高可用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3017520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289864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多数据库支持 (MySQL / PostgreSQL / Oracle / SQL Server)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" y="3520440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1280160" y="340156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实时通信，坐席状态毫秒级同步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4023360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1280160" y="390448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JsSIP 软电话，浏览器内直接接打，无需硬件设备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45720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开源协议：MIT  |  作者：dongjianbin  |  GitHub: ai-call-center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AI呼叫中心系统</dc:title>
  <dc:subject>PptxGenJS Presentation</dc:subject>
  <dc:creator>dongjianbin</dc:creator>
  <cp:lastModifiedBy>dongjianbin</cp:lastModifiedBy>
  <cp:revision>1</cp:revision>
  <dcterms:created xsi:type="dcterms:W3CDTF">2026-07-21T11:08:18Z</dcterms:created>
  <dcterms:modified xsi:type="dcterms:W3CDTF">2026-07-21T11:08:18Z</dcterms:modified>
</cp:coreProperties>
</file>